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d_logo" id="3" name="Google Shape;3;n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32463" y="360363"/>
            <a:ext cx="935037" cy="4206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;n"/>
          <p:cNvSpPr txBox="1"/>
          <p:nvPr>
            <p:ph idx="10" type="dt"/>
          </p:nvPr>
        </p:nvSpPr>
        <p:spPr>
          <a:xfrm>
            <a:off x="188913" y="8685213"/>
            <a:ext cx="1619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2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12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12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2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2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808163" y="8685213"/>
            <a:ext cx="4105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913438" y="8685213"/>
            <a:ext cx="942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190500" y="387350"/>
            <a:ext cx="540385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800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190500" y="179388"/>
            <a:ext cx="6478588" cy="144462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1;n"/>
          <p:cNvCxnSpPr/>
          <p:nvPr/>
        </p:nvCxnSpPr>
        <p:spPr>
          <a:xfrm>
            <a:off x="190500" y="360363"/>
            <a:ext cx="6478588" cy="0"/>
          </a:xfrm>
          <a:prstGeom prst="straightConnector1">
            <a:avLst/>
          </a:prstGeom>
          <a:noFill/>
          <a:ln cap="flat" cmpd="sng" w="152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n"/>
          <p:cNvCxnSpPr/>
          <p:nvPr/>
        </p:nvCxnSpPr>
        <p:spPr>
          <a:xfrm>
            <a:off x="190500" y="781050"/>
            <a:ext cx="647858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n"/>
          <p:cNvCxnSpPr/>
          <p:nvPr/>
        </p:nvCxnSpPr>
        <p:spPr>
          <a:xfrm>
            <a:off x="190500" y="8685213"/>
            <a:ext cx="647858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n"/>
          <p:cNvCxnSpPr/>
          <p:nvPr/>
        </p:nvCxnSpPr>
        <p:spPr>
          <a:xfrm>
            <a:off x="188913" y="4103688"/>
            <a:ext cx="64785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 txBox="1"/>
          <p:nvPr>
            <p:ph idx="10" type="dt"/>
          </p:nvPr>
        </p:nvSpPr>
        <p:spPr>
          <a:xfrm>
            <a:off x="188913" y="8685213"/>
            <a:ext cx="1619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März 2026</a:t>
            </a:r>
            <a:endParaRPr/>
          </a:p>
        </p:txBody>
      </p:sp>
      <p:sp>
        <p:nvSpPr>
          <p:cNvPr id="69" name="Google Shape;69;p1:notes"/>
          <p:cNvSpPr txBox="1"/>
          <p:nvPr>
            <p:ph idx="11" type="ftr"/>
          </p:nvPr>
        </p:nvSpPr>
        <p:spPr>
          <a:xfrm>
            <a:off x="1808163" y="8685213"/>
            <a:ext cx="4105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endParaRPr/>
          </a:p>
        </p:txBody>
      </p:sp>
      <p:sp>
        <p:nvSpPr>
          <p:cNvPr id="70" name="Google Shape;70;p1:notes"/>
          <p:cNvSpPr txBox="1"/>
          <p:nvPr>
            <p:ph idx="12" type="sldNum"/>
          </p:nvPr>
        </p:nvSpPr>
        <p:spPr>
          <a:xfrm>
            <a:off x="5913438" y="8685213"/>
            <a:ext cx="942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0" type="dt"/>
          </p:nvPr>
        </p:nvSpPr>
        <p:spPr>
          <a:xfrm>
            <a:off x="188913" y="8685213"/>
            <a:ext cx="1619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März 2026</a:t>
            </a:r>
            <a:endParaRPr/>
          </a:p>
        </p:txBody>
      </p:sp>
      <p:sp>
        <p:nvSpPr>
          <p:cNvPr id="86" name="Google Shape;86;p3:notes"/>
          <p:cNvSpPr txBox="1"/>
          <p:nvPr>
            <p:ph idx="11" type="ftr"/>
          </p:nvPr>
        </p:nvSpPr>
        <p:spPr>
          <a:xfrm>
            <a:off x="1808163" y="8685213"/>
            <a:ext cx="4105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endParaRPr/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5913438" y="8685213"/>
            <a:ext cx="942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0" type="dt"/>
          </p:nvPr>
        </p:nvSpPr>
        <p:spPr>
          <a:xfrm>
            <a:off x="188913" y="8685213"/>
            <a:ext cx="1619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März 2026</a:t>
            </a:r>
            <a:endParaRPr/>
          </a:p>
        </p:txBody>
      </p:sp>
      <p:sp>
        <p:nvSpPr>
          <p:cNvPr id="101" name="Google Shape;101;p4:notes"/>
          <p:cNvSpPr txBox="1"/>
          <p:nvPr>
            <p:ph idx="11" type="ftr"/>
          </p:nvPr>
        </p:nvSpPr>
        <p:spPr>
          <a:xfrm>
            <a:off x="1808163" y="8685213"/>
            <a:ext cx="4105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5913438" y="8685213"/>
            <a:ext cx="942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0" type="dt"/>
          </p:nvPr>
        </p:nvSpPr>
        <p:spPr>
          <a:xfrm>
            <a:off x="188913" y="8685213"/>
            <a:ext cx="1619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März 2026</a:t>
            </a:r>
            <a:endParaRPr/>
          </a:p>
        </p:txBody>
      </p:sp>
      <p:sp>
        <p:nvSpPr>
          <p:cNvPr id="111" name="Google Shape;111;p5:notes"/>
          <p:cNvSpPr txBox="1"/>
          <p:nvPr>
            <p:ph idx="11" type="ftr"/>
          </p:nvPr>
        </p:nvSpPr>
        <p:spPr>
          <a:xfrm>
            <a:off x="1808163" y="8685213"/>
            <a:ext cx="4105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5913438" y="8685213"/>
            <a:ext cx="942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c2547b1bc_3_1:notes"/>
          <p:cNvSpPr/>
          <p:nvPr>
            <p:ph idx="2" type="sldImg"/>
          </p:nvPr>
        </p:nvSpPr>
        <p:spPr>
          <a:xfrm>
            <a:off x="688975" y="923925"/>
            <a:ext cx="5460900" cy="307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c2547b1bc_3_1:notes"/>
          <p:cNvSpPr txBox="1"/>
          <p:nvPr>
            <p:ph idx="1" type="body"/>
          </p:nvPr>
        </p:nvSpPr>
        <p:spPr>
          <a:xfrm>
            <a:off x="190500" y="4284663"/>
            <a:ext cx="6477000" cy="428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cc2547b1bc_3_1:notes"/>
          <p:cNvSpPr txBox="1"/>
          <p:nvPr>
            <p:ph idx="12" type="sldNum"/>
          </p:nvPr>
        </p:nvSpPr>
        <p:spPr>
          <a:xfrm>
            <a:off x="5913438" y="8685213"/>
            <a:ext cx="942900" cy="457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0" type="dt"/>
          </p:nvPr>
        </p:nvSpPr>
        <p:spPr>
          <a:xfrm>
            <a:off x="188913" y="8685213"/>
            <a:ext cx="1619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März 2026</a:t>
            </a:r>
            <a:endParaRPr/>
          </a:p>
        </p:txBody>
      </p:sp>
      <p:sp>
        <p:nvSpPr>
          <p:cNvPr id="128" name="Google Shape;128;p7:notes"/>
          <p:cNvSpPr txBox="1"/>
          <p:nvPr>
            <p:ph idx="11" type="ftr"/>
          </p:nvPr>
        </p:nvSpPr>
        <p:spPr>
          <a:xfrm>
            <a:off x="1808163" y="8685213"/>
            <a:ext cx="4105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5913438" y="8685213"/>
            <a:ext cx="942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c2547b1bc_3_18:notes"/>
          <p:cNvSpPr/>
          <p:nvPr>
            <p:ph idx="2" type="sldImg"/>
          </p:nvPr>
        </p:nvSpPr>
        <p:spPr>
          <a:xfrm>
            <a:off x="688975" y="923925"/>
            <a:ext cx="5460900" cy="307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0" name="Google Shape;190;g3cc2547b1bc_3_18:notes"/>
          <p:cNvSpPr txBox="1"/>
          <p:nvPr>
            <p:ph idx="1" type="body"/>
          </p:nvPr>
        </p:nvSpPr>
        <p:spPr>
          <a:xfrm>
            <a:off x="190500" y="4284663"/>
            <a:ext cx="64770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cc2547b1bc_3_18:notes"/>
          <p:cNvSpPr txBox="1"/>
          <p:nvPr>
            <p:ph idx="10" type="dt"/>
          </p:nvPr>
        </p:nvSpPr>
        <p:spPr>
          <a:xfrm>
            <a:off x="188913" y="8685213"/>
            <a:ext cx="161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März 2026</a:t>
            </a:r>
            <a:endParaRPr/>
          </a:p>
        </p:txBody>
      </p:sp>
      <p:sp>
        <p:nvSpPr>
          <p:cNvPr id="192" name="Google Shape;192;g3cc2547b1bc_3_18:notes"/>
          <p:cNvSpPr txBox="1"/>
          <p:nvPr>
            <p:ph idx="11" type="ftr"/>
          </p:nvPr>
        </p:nvSpPr>
        <p:spPr>
          <a:xfrm>
            <a:off x="1808163" y="8685213"/>
            <a:ext cx="410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endParaRPr/>
          </a:p>
        </p:txBody>
      </p:sp>
      <p:sp>
        <p:nvSpPr>
          <p:cNvPr id="193" name="Google Shape;193;g3cc2547b1bc_3_18:notes"/>
          <p:cNvSpPr txBox="1"/>
          <p:nvPr>
            <p:ph idx="12" type="sldNum"/>
          </p:nvPr>
        </p:nvSpPr>
        <p:spPr>
          <a:xfrm>
            <a:off x="5913438" y="8685213"/>
            <a:ext cx="94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6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/>
          <p:nvPr>
            <p:ph idx="1" type="body"/>
          </p:nvPr>
        </p:nvSpPr>
        <p:spPr>
          <a:xfrm>
            <a:off x="190500" y="4284663"/>
            <a:ext cx="6477000" cy="4283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688975" y="923925"/>
            <a:ext cx="5461000" cy="3071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body"/>
          </p:nvPr>
        </p:nvSpPr>
        <p:spPr>
          <a:xfrm>
            <a:off x="480000" y="1620001"/>
            <a:ext cx="11280629" cy="4479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406400" lvl="0" marL="4572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800"/>
            </a:lvl1pPr>
            <a:lvl2pPr indent="-381000" lvl="1" marL="9144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2pPr>
            <a:lvl3pPr indent="-355600" lvl="2" marL="13716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/>
            </a:lvl3pPr>
            <a:lvl4pPr indent="-342900" lvl="3" marL="18288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">
  <p:cSld name="Zwei Inhalt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480001" y="1620001"/>
            <a:ext cx="5183951" cy="4479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406400" lvl="0" marL="4572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800"/>
            </a:lvl1pPr>
            <a:lvl2pPr indent="-381000" lvl="1" marL="9144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2pPr>
            <a:lvl3pPr indent="-355600" lvl="2" marL="13716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/>
            </a:lvl3pPr>
            <a:lvl4pPr indent="-342900" lvl="3" marL="18288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2" type="body"/>
          </p:nvPr>
        </p:nvSpPr>
        <p:spPr>
          <a:xfrm>
            <a:off x="5951984" y="1620001"/>
            <a:ext cx="5688632" cy="4479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406400" lvl="0" marL="4572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800"/>
            </a:lvl1pPr>
            <a:lvl2pPr indent="-381000" lvl="1" marL="9144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2pPr>
            <a:lvl3pPr indent="-355600" lvl="2" marL="13716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/>
            </a:lvl3pPr>
            <a:lvl4pPr indent="-342900" lvl="3" marL="18288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bschlussfolie">
  <p:cSld name="1_Abschlussfoli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65295" y="0"/>
            <a:ext cx="1272259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>
  <p:cSld name="Titelfoli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334434" y="368300"/>
            <a:ext cx="11523133" cy="2089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78367" y="1449388"/>
            <a:ext cx="8856156" cy="94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  <a:defRPr b="1">
                <a:solidFill>
                  <a:srgbClr val="000000"/>
                </a:solidFill>
              </a:defRPr>
            </a:lvl1pPr>
            <a:lvl2pPr lvl="1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lvl="2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lvl="3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lvl="4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37" name="Google Shape;37;p5"/>
          <p:cNvSpPr/>
          <p:nvPr/>
        </p:nvSpPr>
        <p:spPr>
          <a:xfrm>
            <a:off x="334434" y="196851"/>
            <a:ext cx="11523133" cy="1444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334434" y="360364"/>
            <a:ext cx="11521017" cy="142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334434" y="2457450"/>
            <a:ext cx="11521017" cy="79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rgbClr val="00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/>
        </p:nvSpPr>
        <p:spPr>
          <a:xfrm>
            <a:off x="334800" y="6514379"/>
            <a:ext cx="1027195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3/1/2026  |  Final Presentation Practical Part of Exam for MLA Lecture  |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MLA Group 21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 b="0" l="-1" r="-1550" t="0"/>
          <a:stretch/>
        </p:blipFill>
        <p:spPr>
          <a:xfrm>
            <a:off x="10134000" y="511809"/>
            <a:ext cx="2010672" cy="79248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>
            <p:ph idx="2" type="pic"/>
          </p:nvPr>
        </p:nvSpPr>
        <p:spPr>
          <a:xfrm>
            <a:off x="334434" y="2465388"/>
            <a:ext cx="11523133" cy="3934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4" name="Google Shape;44;p5"/>
          <p:cNvCxnSpPr/>
          <p:nvPr/>
        </p:nvCxnSpPr>
        <p:spPr>
          <a:xfrm>
            <a:off x="336000" y="6408000"/>
            <a:ext cx="11521016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schnittsüberschrift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963085" y="4406901"/>
            <a:ext cx="856194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963085" y="2906713"/>
            <a:ext cx="856194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mit Überschrift">
  <p:cSld name="Inhalt mit Überschrif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43493" y="1620001"/>
            <a:ext cx="6667547" cy="4506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55600" lvl="0" marL="4572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indent="-355600" lvl="1" marL="9144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indent="-330200" lvl="2" marL="13716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3pPr>
            <a:lvl4pPr indent="-330200" lvl="3" marL="18288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indent="-330200" lvl="4" marL="22860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78368" y="1620001"/>
            <a:ext cx="4142317" cy="4506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4" name="Google Shape;54;p9"/>
          <p:cNvSpPr txBox="1"/>
          <p:nvPr>
            <p:ph type="title"/>
          </p:nvPr>
        </p:nvSpPr>
        <p:spPr>
          <a:xfrm>
            <a:off x="478367" y="488950"/>
            <a:ext cx="9120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Überschrift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/>
          <p:nvPr>
            <p:ph idx="2" type="pic"/>
          </p:nvPr>
        </p:nvSpPr>
        <p:spPr>
          <a:xfrm>
            <a:off x="2389717" y="1928802"/>
            <a:ext cx="7315200" cy="2798773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teratur- und Quellenverzeichnis">
  <p:cSld name="Literatur- und Quellenverzeichni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480000" y="1620001"/>
            <a:ext cx="11280629" cy="4479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81000" lvl="1" marL="9144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indent="-342900" lvl="2" marL="13716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schlussfolie">
  <p:cSld name="Abschlussfoli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P4030212.jpg" id="64" name="Google Shape;64;p12"/>
          <p:cNvPicPr preferRelativeResize="0"/>
          <p:nvPr/>
        </p:nvPicPr>
        <p:blipFill rotWithShape="1">
          <a:blip r:embed="rId2">
            <a:alphaModFix/>
          </a:blip>
          <a:srcRect b="21875" l="0" r="12100" t="14429"/>
          <a:stretch/>
        </p:blipFill>
        <p:spPr>
          <a:xfrm>
            <a:off x="478367" y="1628800"/>
            <a:ext cx="11306265" cy="4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34434" y="368300"/>
            <a:ext cx="11523133" cy="1081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480000" y="1620000"/>
            <a:ext cx="11375451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406400" lvl="0" marL="45720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30000"/>
              </a:lnSpc>
              <a:spcBef>
                <a:spcPts val="2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9" name="Google Shape;19;p1"/>
          <p:cNvCxnSpPr/>
          <p:nvPr/>
        </p:nvCxnSpPr>
        <p:spPr>
          <a:xfrm>
            <a:off x="334434" y="1449388"/>
            <a:ext cx="1152101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1"/>
          <p:cNvSpPr/>
          <p:nvPr/>
        </p:nvSpPr>
        <p:spPr>
          <a:xfrm>
            <a:off x="334434" y="366714"/>
            <a:ext cx="11521017" cy="142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336000" y="6408000"/>
            <a:ext cx="11521016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" name="Google Shape;22;p1"/>
          <p:cNvSpPr txBox="1"/>
          <p:nvPr/>
        </p:nvSpPr>
        <p:spPr>
          <a:xfrm>
            <a:off x="333045" y="6514379"/>
            <a:ext cx="1027195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3/1/2026  |  Final Presentation Practical Part of Exam for MLA Lecture  |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MLA Group 21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1"/>
          <p:cNvPicPr preferRelativeResize="0"/>
          <p:nvPr/>
        </p:nvPicPr>
        <p:blipFill rotWithShape="1">
          <a:blip r:embed="rId1">
            <a:alphaModFix/>
          </a:blip>
          <a:srcRect b="0" l="-1" r="-1550" t="0"/>
          <a:stretch/>
        </p:blipFill>
        <p:spPr>
          <a:xfrm>
            <a:off x="10134000" y="511809"/>
            <a:ext cx="2010672" cy="79248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MLA Data Challenge – Group 21</a:t>
            </a:r>
            <a:endParaRPr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478367" y="2186771"/>
            <a:ext cx="11280629" cy="75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Electrical Load Forecast of the LV MDB –  ETA Research Factory</a:t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7858186" y="3288144"/>
            <a:ext cx="439650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Uwe Klingauf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Matthias Weigold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Kristian Kersting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M. Sc. Immo Schmidt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M. Sc. Robin Zink</a:t>
            </a:r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1435336" y="3218756"/>
            <a:ext cx="43965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Kevin Vagadiya (2783406)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Tanay Patel (2845454)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Shikhar Bhatia (2613990)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Neelay Deshmukh (2623391)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 and Goals</a:t>
            </a:r>
            <a:endParaRPr/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480000" y="1620000"/>
            <a:ext cx="11280600" cy="4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57175" lvl="0" marL="269875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▪"/>
            </a:pPr>
            <a:r>
              <a:rPr b="1" lang="en-US" sz="2600"/>
              <a:t>Motivation</a:t>
            </a:r>
            <a:endParaRPr b="1" sz="2200"/>
          </a:p>
          <a:p>
            <a:pPr indent="-269875" lvl="1" marL="539750" rtl="0" algn="just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Energy is a critical and costly production enabler; complex interdependent loads require </a:t>
            </a:r>
            <a:r>
              <a:rPr b="1" lang="en-US" sz="2000"/>
              <a:t>balancing cost and reliability.</a:t>
            </a:r>
            <a:endParaRPr/>
          </a:p>
          <a:p>
            <a:pPr indent="-269875" lvl="1" marL="539750" rtl="0" algn="just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Energy </a:t>
            </a:r>
            <a:r>
              <a:rPr b="1" lang="en-US" sz="2000"/>
              <a:t>cost optimization </a:t>
            </a:r>
            <a:r>
              <a:rPr lang="en-US" sz="2000"/>
              <a:t>requires accurate </a:t>
            </a:r>
            <a:r>
              <a:rPr b="1" lang="en-US" sz="2000"/>
              <a:t>load forecasting</a:t>
            </a:r>
            <a:endParaRPr/>
          </a:p>
          <a:p>
            <a:pPr indent="-269875" lvl="1" marL="539750" rtl="0" algn="just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b="1" lang="en-US" sz="2000"/>
              <a:t>Industry perspective</a:t>
            </a:r>
            <a:r>
              <a:rPr lang="en-US" sz="2000"/>
              <a:t>: Forecasting allows </a:t>
            </a:r>
            <a:r>
              <a:rPr b="1" lang="en-US" sz="2000"/>
              <a:t>scheduling</a:t>
            </a:r>
            <a:r>
              <a:rPr lang="en-US" sz="2000"/>
              <a:t>, </a:t>
            </a:r>
            <a:r>
              <a:rPr b="1" lang="en-US" sz="2000"/>
              <a:t>peak load management</a:t>
            </a:r>
            <a:r>
              <a:rPr lang="en-US" sz="2000"/>
              <a:t>, and </a:t>
            </a:r>
            <a:r>
              <a:rPr b="1" lang="en-US" sz="2000"/>
              <a:t>renewable integration </a:t>
            </a:r>
            <a:r>
              <a:rPr lang="en-US" sz="2000"/>
              <a:t>for climate-neutral production.</a:t>
            </a:r>
            <a:endParaRPr b="1" sz="2000"/>
          </a:p>
          <a:p>
            <a:pPr indent="0" lvl="1" marL="269875" rtl="0" algn="just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-257175" lvl="0" marL="269875" rtl="0" algn="just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600"/>
              <a:buChar char="▪"/>
            </a:pPr>
            <a:r>
              <a:rPr b="1" lang="en-US" sz="2600"/>
              <a:t>Goals</a:t>
            </a:r>
            <a:endParaRPr sz="2600"/>
          </a:p>
          <a:p>
            <a:pPr indent="-269875" lvl="1" marL="539750" rtl="0" algn="just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Forecast LV MDB electrical load (kW) for next 24 h at 1 h resolution; evaluated with MAE per horizon.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03" y="1592048"/>
            <a:ext cx="4499165" cy="447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Understanding</a:t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136638" y="6116941"/>
            <a:ext cx="64950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ftp://public.dhe.ibm.com/software/analytics/spss/documentation/modeler/18.0/en/ModelerCRISPDM.pdf</a:t>
            </a:r>
            <a:endParaRPr/>
          </a:p>
        </p:txBody>
      </p:sp>
      <p:pic>
        <p:nvPicPr>
          <p:cNvPr id="92" name="Google Shape;92;p15"/>
          <p:cNvPicPr preferRelativeResize="0"/>
          <p:nvPr/>
        </p:nvPicPr>
        <p:blipFill rotWithShape="1">
          <a:blip r:embed="rId4">
            <a:alphaModFix/>
          </a:blip>
          <a:srcRect b="1499" l="0" r="0" t="9923"/>
          <a:stretch/>
        </p:blipFill>
        <p:spPr>
          <a:xfrm>
            <a:off x="5282479" y="3429000"/>
            <a:ext cx="6846842" cy="267094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4391844" y="1583836"/>
            <a:ext cx="7663517" cy="64633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Task: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Electrical load forecast (kW) at each time step for the next 24 hours (h = z = 24 h) in hourly time resolution (Δt = 1 h)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8639142" y="2337166"/>
            <a:ext cx="3411453" cy="120032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Power measurement features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Datetime features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Weather features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4391844" y="2346593"/>
            <a:ext cx="3994608" cy="64633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error metric: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 absolute error (MAE) per horizon.</a:t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8223602" y="6148116"/>
            <a:ext cx="357092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source: https://tuprints.ulb.tu-darmstadt.de/21767/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Understanding and Filtering 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 b="-557" l="0" r="0" t="-2"/>
          <a:stretch/>
        </p:blipFill>
        <p:spPr>
          <a:xfrm>
            <a:off x="796275" y="1584375"/>
            <a:ext cx="10680176" cy="433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1008925" y="5920601"/>
            <a:ext cx="1105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Visualization to get an initial overview of patterns, seasonality, and potential outliers before cleaning.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Understanding and Filtering 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5115738" y="5873471"/>
            <a:ext cx="25765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Missing values check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525" y="1631950"/>
            <a:ext cx="10014703" cy="4241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478375" y="402450"/>
            <a:ext cx="9684300" cy="104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Data Understanding and Filtering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375" y="1559175"/>
            <a:ext cx="11346449" cy="468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Understanding and Filtering 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 rotWithShape="1">
          <a:blip r:embed="rId3">
            <a:alphaModFix/>
          </a:blip>
          <a:srcRect b="0" l="990" r="0" t="0"/>
          <a:stretch/>
        </p:blipFill>
        <p:spPr>
          <a:xfrm>
            <a:off x="172841" y="1590505"/>
            <a:ext cx="4572775" cy="447994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>
            <p:ph idx="2" type="body"/>
          </p:nvPr>
        </p:nvSpPr>
        <p:spPr>
          <a:xfrm>
            <a:off x="5951984" y="1620001"/>
            <a:ext cx="5688632" cy="4479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69875" lvl="0" marL="2698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Null data </a:t>
            </a:r>
            <a:endParaRPr/>
          </a:p>
          <a:p>
            <a:pPr indent="-269875" lvl="0" marL="269875" rtl="0" algn="l">
              <a:lnSpc>
                <a:spcPct val="12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Negative load at night and day</a:t>
            </a:r>
            <a:endParaRPr/>
          </a:p>
          <a:p>
            <a:pPr indent="-269875" lvl="0" marL="269875" rtl="0" algn="l">
              <a:lnSpc>
                <a:spcPct val="12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Random Peak load</a:t>
            </a:r>
            <a:endParaRPr/>
          </a:p>
          <a:p>
            <a:pPr indent="-142875" lvl="0" marL="269875" rtl="0" algn="l">
              <a:lnSpc>
                <a:spcPct val="12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lang="en-US" sz="2000"/>
              <a:t>Filtering: </a:t>
            </a:r>
            <a:endParaRPr/>
          </a:p>
          <a:p>
            <a:pPr indent="-269875" lvl="0" marL="269875" rtl="0" algn="l">
              <a:lnSpc>
                <a:spcPct val="12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Mean from previous day and hour</a:t>
            </a:r>
            <a:endParaRPr/>
          </a:p>
          <a:p>
            <a:pPr indent="-269875" lvl="0" marL="269875" rtl="0" algn="l">
              <a:lnSpc>
                <a:spcPct val="12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Treated Negative load at night as outliers</a:t>
            </a:r>
            <a:endParaRPr/>
          </a:p>
          <a:p>
            <a:pPr indent="-269875" lvl="0" marL="269875" rtl="0" algn="l">
              <a:lnSpc>
                <a:spcPct val="12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Reduce extremely high peak load to average peak </a:t>
            </a:r>
            <a:endParaRPr/>
          </a:p>
          <a:p>
            <a:pPr indent="-269875" lvl="0" marL="269875" rtl="0" algn="l">
              <a:lnSpc>
                <a:spcPct val="12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Apply smoothing</a:t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136638" y="6116941"/>
            <a:ext cx="64950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ftp://public.dhe.ibm.com/software/analytics/spss/documentation/modeler/18.0/en/ModelerCRISPDM.pdf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Engineering and Methodology of Regular Model  </a:t>
            </a:r>
            <a:endParaRPr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488758" y="1620001"/>
            <a:ext cx="3967182" cy="4655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92075" lvl="0" marL="269875" rtl="0" algn="l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485775" y="177165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765662" y="1620007"/>
            <a:ext cx="41970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Added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Hours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 of Week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Month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 day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 hour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Lag feature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Remove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Precipitation 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3641" y="1618491"/>
            <a:ext cx="5151990" cy="4522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Modelling and Evaluation of Regular Model 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476249" y="1714500"/>
            <a:ext cx="26364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Used:</a:t>
            </a:r>
            <a:endParaRPr sz="800"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regression  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XGBoost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LSTM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CNN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FFNN</a:t>
            </a:r>
            <a:endParaRPr/>
          </a:p>
        </p:txBody>
      </p:sp>
      <p:sp>
        <p:nvSpPr>
          <p:cNvPr id="150" name="Google Shape;150;p21"/>
          <p:cNvSpPr txBox="1"/>
          <p:nvPr/>
        </p:nvSpPr>
        <p:spPr>
          <a:xfrm rot="-5400000">
            <a:off x="5125717" y="3289553"/>
            <a:ext cx="6060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C7C7C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 sz="1200">
              <a:solidFill>
                <a:srgbClr val="7C7C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6187217" y="5520387"/>
            <a:ext cx="5335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are improved here with different hyper parameter (For e.g estimators, learning rate, depth)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2424325" y="4503050"/>
            <a:ext cx="2986200" cy="20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Reasons: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Insufficient training data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Large computational time</a:t>
            </a:r>
            <a:endParaRPr sz="1800"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Hyper-parameter Optimization issues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394525" y="4503050"/>
            <a:ext cx="20298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Model Removed</a:t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LSTM</a:t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CNN</a:t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RNN</a:t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FFNN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55" name="Google Shape;155;p2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7265" y="1599725"/>
            <a:ext cx="6076950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Modelling and Evaluation of Regular Model </a:t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3103100" y="3049581"/>
            <a:ext cx="1188600" cy="8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3149000" y="1540631"/>
            <a:ext cx="1188600" cy="8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3149000" y="4668606"/>
            <a:ext cx="1188600" cy="8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1597275" y="3066468"/>
            <a:ext cx="1188600" cy="8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50" y="1519000"/>
            <a:ext cx="5513592" cy="2272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148" y="3942450"/>
            <a:ext cx="5616604" cy="23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0" y="1518989"/>
            <a:ext cx="5616601" cy="2237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and Feature Engineering </a:t>
            </a:r>
            <a:endParaRPr/>
          </a:p>
        </p:txBody>
      </p:sp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480000" y="4449037"/>
            <a:ext cx="10947802" cy="1957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Observations:</a:t>
            </a:r>
            <a:endParaRPr sz="2000"/>
          </a:p>
          <a:p>
            <a:pPr indent="-342900" lvl="0" marL="342900" rtl="0" algn="l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en-US" sz="1800"/>
              <a:t>Working Sunday and Holiday</a:t>
            </a:r>
            <a:endParaRPr sz="1800"/>
          </a:p>
          <a:p>
            <a:pPr indent="-342900" lvl="0" marL="342900" rtl="0" algn="l">
              <a:lnSpc>
                <a:spcPct val="130000"/>
              </a:lnSpc>
              <a:spcBef>
                <a:spcPts val="429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b="1" lang="en-US" sz="1800"/>
              <a:t>Filtering step: </a:t>
            </a:r>
            <a:r>
              <a:rPr lang="en-US" sz="1800"/>
              <a:t>Accounted for holidays and working Sundays such that the real pattern is not lost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b="1" lang="en-US" sz="1800"/>
              <a:t>Feature Engineering: </a:t>
            </a:r>
            <a:r>
              <a:rPr lang="en-US" sz="1800"/>
              <a:t>is_working_sunday, is_holiday, next_is_working, next_is_holiday, next_is_ws</a:t>
            </a:r>
            <a:endParaRPr sz="1800"/>
          </a:p>
        </p:txBody>
      </p:sp>
      <p:pic>
        <p:nvPicPr>
          <p:cNvPr id="175" name="Google Shape;1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4713" y="1694105"/>
            <a:ext cx="6928616" cy="285535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/>
          <p:nvPr/>
        </p:nvSpPr>
        <p:spPr>
          <a:xfrm>
            <a:off x="478367" y="1815192"/>
            <a:ext cx="39063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 from Regular model for linear Regression TestX0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317" y="3429000"/>
            <a:ext cx="5844854" cy="240726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Modeling and Evaluation of Special Model</a:t>
            </a:r>
            <a:endParaRPr/>
          </a:p>
        </p:txBody>
      </p:sp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480000" y="1620001"/>
            <a:ext cx="11280629" cy="4479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We found that the Special model performs much better than the earlier regular model for testX0.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However, the results for TestX1 slice worsened. Due to the more complexity.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grpSp>
        <p:nvGrpSpPr>
          <p:cNvPr id="184" name="Google Shape;184;p24"/>
          <p:cNvGrpSpPr/>
          <p:nvPr/>
        </p:nvGrpSpPr>
        <p:grpSpPr>
          <a:xfrm>
            <a:off x="6330598" y="2982190"/>
            <a:ext cx="5659425" cy="2927597"/>
            <a:chOff x="6892573" y="2915515"/>
            <a:chExt cx="5659425" cy="2927597"/>
          </a:xfrm>
        </p:grpSpPr>
        <p:pic>
          <p:nvPicPr>
            <p:cNvPr id="185" name="Google Shape;185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34739" y="2915515"/>
              <a:ext cx="5317259" cy="2927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24"/>
            <p:cNvSpPr txBox="1"/>
            <p:nvPr/>
          </p:nvSpPr>
          <p:spPr>
            <a:xfrm rot="-5400000">
              <a:off x="6722728" y="4256458"/>
              <a:ext cx="585399" cy="245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C7C7C"/>
                  </a:solidFill>
                  <a:latin typeface="Arial"/>
                  <a:ea typeface="Arial"/>
                  <a:cs typeface="Arial"/>
                  <a:sym typeface="Arial"/>
                </a:rPr>
                <a:t>MAE</a:t>
              </a:r>
              <a:endParaRPr sz="1200">
                <a:solidFill>
                  <a:srgbClr val="7C7C7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4"/>
          <p:cNvSpPr/>
          <p:nvPr/>
        </p:nvSpPr>
        <p:spPr>
          <a:xfrm>
            <a:off x="2056423" y="3158546"/>
            <a:ext cx="2697019" cy="2701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 for TestX0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type="title"/>
          </p:nvPr>
        </p:nvSpPr>
        <p:spPr>
          <a:xfrm>
            <a:off x="478367" y="488950"/>
            <a:ext cx="9578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Evaluation and Filtering of new Special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5951984" y="1620001"/>
            <a:ext cx="5688600" cy="44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280352" lvl="0" marL="269875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200"/>
              <a:t>After our first iteration, we realized that the factory load behaves very differently on some holidays/weekends as it has same working load as a  normal workdays.</a:t>
            </a:r>
            <a:endParaRPr/>
          </a:p>
          <a:p>
            <a:pPr indent="-280352" lvl="0" marL="269875" rtl="0" algn="just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200"/>
              <a:t>Therefore, we categorize those events as special case.</a:t>
            </a:r>
            <a:endParaRPr/>
          </a:p>
          <a:p>
            <a:pPr indent="-280352" lvl="0" marL="269875" rtl="0" algn="just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200"/>
              <a:t>This filtering allows later models to specialize on the patterns they are best suited for.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97" name="Google Shape;197;p25"/>
          <p:cNvSpPr txBox="1"/>
          <p:nvPr/>
        </p:nvSpPr>
        <p:spPr>
          <a:xfrm>
            <a:off x="478367" y="2269823"/>
            <a:ext cx="4708800" cy="92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Special Pipeline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designed for </a:t>
            </a:r>
            <a:r>
              <a:rPr b="1" lang="en-US" sz="1800">
                <a:solidFill>
                  <a:schemeClr val="dk1"/>
                </a:solidFill>
              </a:rPr>
              <a:t>working holidays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(holidays, weekends, bridge days, winter break, etc.). </a:t>
            </a:r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478367" y="4001374"/>
            <a:ext cx="4708800" cy="92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 Pipeline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focuses on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 workdays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(Monday–Friday, excluding holidays and working Sundays). 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Modeling of Hybrid Model</a:t>
            </a:r>
            <a:endParaRPr/>
          </a:p>
        </p:txBody>
      </p:sp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455688" y="1570226"/>
            <a:ext cx="112806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Special Model: </a:t>
            </a:r>
            <a:r>
              <a:rPr lang="en-US" sz="2000"/>
              <a:t>Uses Linear Regression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Regular Model: </a:t>
            </a:r>
            <a:r>
              <a:rPr lang="en-US" sz="2000"/>
              <a:t>Uses Random Forest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grpSp>
        <p:nvGrpSpPr>
          <p:cNvPr id="205" name="Google Shape;205;p26"/>
          <p:cNvGrpSpPr/>
          <p:nvPr/>
        </p:nvGrpSpPr>
        <p:grpSpPr>
          <a:xfrm>
            <a:off x="5411119" y="1620001"/>
            <a:ext cx="6227554" cy="4545083"/>
            <a:chOff x="5124792" y="1620000"/>
            <a:chExt cx="6227554" cy="4545083"/>
          </a:xfrm>
        </p:grpSpPr>
        <p:sp>
          <p:nvSpPr>
            <p:cNvPr id="206" name="Google Shape;206;p26"/>
            <p:cNvSpPr/>
            <p:nvPr/>
          </p:nvSpPr>
          <p:spPr>
            <a:xfrm>
              <a:off x="7305964" y="1620000"/>
              <a:ext cx="1634837" cy="665019"/>
            </a:xfrm>
            <a:prstGeom prst="flowChartAlternateProcess">
              <a:avLst/>
            </a:prstGeom>
            <a:solidFill>
              <a:schemeClr val="accent1"/>
            </a:solidFill>
            <a:ln cap="flat" cmpd="sng" w="25400">
              <a:solidFill>
                <a:srgbClr val="4E5E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Hybrid model</a:t>
              </a: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5578760" y="2878458"/>
              <a:ext cx="1634837" cy="665019"/>
            </a:xfrm>
            <a:prstGeom prst="flowChartAlternateProcess">
              <a:avLst/>
            </a:prstGeom>
            <a:solidFill>
              <a:schemeClr val="accent1"/>
            </a:solidFill>
            <a:ln cap="flat" cmpd="sng" w="25400">
              <a:solidFill>
                <a:srgbClr val="4E5E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 time step is special case</a:t>
              </a: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8959701" y="2897911"/>
              <a:ext cx="1634837" cy="665019"/>
            </a:xfrm>
            <a:prstGeom prst="flowChartAlternateProcess">
              <a:avLst/>
            </a:prstGeom>
            <a:solidFill>
              <a:schemeClr val="accent1"/>
            </a:solidFill>
            <a:ln cap="flat" cmpd="sng" w="25400">
              <a:solidFill>
                <a:srgbClr val="4E5E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 time step is regular case</a:t>
              </a:r>
              <a:endParaRPr/>
            </a:p>
          </p:txBody>
        </p:sp>
        <p:cxnSp>
          <p:nvCxnSpPr>
            <p:cNvPr id="209" name="Google Shape;209;p26"/>
            <p:cNvCxnSpPr>
              <a:stCxn id="206" idx="2"/>
              <a:endCxn id="207" idx="0"/>
            </p:cNvCxnSpPr>
            <p:nvPr/>
          </p:nvCxnSpPr>
          <p:spPr>
            <a:xfrm rot="5400000">
              <a:off x="6963133" y="1718169"/>
              <a:ext cx="593400" cy="1727100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0" name="Google Shape;210;p26"/>
            <p:cNvCxnSpPr>
              <a:stCxn id="206" idx="2"/>
              <a:endCxn id="208" idx="0"/>
            </p:cNvCxnSpPr>
            <p:nvPr/>
          </p:nvCxnSpPr>
          <p:spPr>
            <a:xfrm flipH="1" rot="-5400000">
              <a:off x="8643733" y="1764669"/>
              <a:ext cx="612900" cy="1653600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1" name="Google Shape;211;p26"/>
            <p:cNvSpPr/>
            <p:nvPr/>
          </p:nvSpPr>
          <p:spPr>
            <a:xfrm>
              <a:off x="5252238" y="4045188"/>
              <a:ext cx="2287883" cy="795654"/>
            </a:xfrm>
            <a:prstGeom prst="flowChartAlternateProcess">
              <a:avLst/>
            </a:prstGeom>
            <a:solidFill>
              <a:schemeClr val="accent1"/>
            </a:solidFill>
            <a:ln cap="flat" cmpd="sng" w="25400">
              <a:solidFill>
                <a:srgbClr val="4E5E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Get prediction from special model </a:t>
              </a: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8581011" y="4045188"/>
              <a:ext cx="2392218" cy="795654"/>
            </a:xfrm>
            <a:prstGeom prst="flowChartAlternateProcess">
              <a:avLst/>
            </a:prstGeom>
            <a:solidFill>
              <a:schemeClr val="accent1"/>
            </a:solidFill>
            <a:ln cap="flat" cmpd="sng" w="25400">
              <a:solidFill>
                <a:srgbClr val="4E5E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Get prediction from regular model </a:t>
              </a:r>
              <a:endParaRPr/>
            </a:p>
          </p:txBody>
        </p:sp>
        <p:cxnSp>
          <p:nvCxnSpPr>
            <p:cNvPr id="213" name="Google Shape;213;p26"/>
            <p:cNvCxnSpPr>
              <a:stCxn id="208" idx="2"/>
              <a:endCxn id="212" idx="0"/>
            </p:cNvCxnSpPr>
            <p:nvPr/>
          </p:nvCxnSpPr>
          <p:spPr>
            <a:xfrm>
              <a:off x="9777120" y="3562930"/>
              <a:ext cx="0" cy="48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4" name="Google Shape;214;p26"/>
            <p:cNvCxnSpPr>
              <a:stCxn id="207" idx="2"/>
              <a:endCxn id="211" idx="0"/>
            </p:cNvCxnSpPr>
            <p:nvPr/>
          </p:nvCxnSpPr>
          <p:spPr>
            <a:xfrm>
              <a:off x="6396179" y="3543477"/>
              <a:ext cx="0" cy="501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5" name="Google Shape;215;p26"/>
            <p:cNvSpPr/>
            <p:nvPr/>
          </p:nvSpPr>
          <p:spPr>
            <a:xfrm>
              <a:off x="7259782" y="5440026"/>
              <a:ext cx="1727203" cy="725057"/>
            </a:xfrm>
            <a:prstGeom prst="flowChartAlternateProcess">
              <a:avLst/>
            </a:prstGeom>
            <a:solidFill>
              <a:schemeClr val="accent1"/>
            </a:solidFill>
            <a:ln cap="flat" cmpd="sng" w="25400">
              <a:solidFill>
                <a:srgbClr val="4E5E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Stitching all predictions</a:t>
              </a:r>
              <a:endParaRPr/>
            </a:p>
          </p:txBody>
        </p:sp>
        <p:cxnSp>
          <p:nvCxnSpPr>
            <p:cNvPr id="216" name="Google Shape;216;p26"/>
            <p:cNvCxnSpPr>
              <a:stCxn id="211" idx="2"/>
              <a:endCxn id="215" idx="0"/>
            </p:cNvCxnSpPr>
            <p:nvPr/>
          </p:nvCxnSpPr>
          <p:spPr>
            <a:xfrm flipH="1" rot="-5400000">
              <a:off x="6960180" y="4276842"/>
              <a:ext cx="599100" cy="1727100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7" name="Google Shape;217;p26"/>
            <p:cNvCxnSpPr>
              <a:stCxn id="212" idx="2"/>
              <a:endCxn id="215" idx="0"/>
            </p:cNvCxnSpPr>
            <p:nvPr/>
          </p:nvCxnSpPr>
          <p:spPr>
            <a:xfrm rot="5400000">
              <a:off x="8650770" y="4313592"/>
              <a:ext cx="599100" cy="1653600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8" name="Google Shape;218;p26"/>
            <p:cNvSpPr/>
            <p:nvPr/>
          </p:nvSpPr>
          <p:spPr>
            <a:xfrm>
              <a:off x="5124792" y="2472057"/>
              <a:ext cx="5997179" cy="276594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6"/>
            <p:cNvSpPr txBox="1"/>
            <p:nvPr/>
          </p:nvSpPr>
          <p:spPr>
            <a:xfrm>
              <a:off x="9625141" y="2144726"/>
              <a:ext cx="1727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Repeats 24 times</a:t>
              </a:r>
              <a:endParaRPr/>
            </a:p>
          </p:txBody>
        </p:sp>
      </p:grpSp>
      <p:sp>
        <p:nvSpPr>
          <p:cNvPr id="220" name="Google Shape;220;p26"/>
          <p:cNvSpPr txBox="1"/>
          <p:nvPr/>
        </p:nvSpPr>
        <p:spPr>
          <a:xfrm>
            <a:off x="478375" y="2607825"/>
            <a:ext cx="49329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(further optimized using hyperparameters for e.g estimators and depth)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Hybrid Model</a:t>
            </a:r>
            <a:endParaRPr/>
          </a:p>
        </p:txBody>
      </p:sp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480000" y="1620001"/>
            <a:ext cx="11280629" cy="4479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Thus, by using both the models to predict the load the MAE has significantly improved.</a:t>
            </a:r>
            <a:endParaRPr/>
          </a:p>
        </p:txBody>
      </p:sp>
      <p:grpSp>
        <p:nvGrpSpPr>
          <p:cNvPr id="227" name="Google Shape;227;p27"/>
          <p:cNvGrpSpPr/>
          <p:nvPr/>
        </p:nvGrpSpPr>
        <p:grpSpPr>
          <a:xfrm>
            <a:off x="431375" y="2418842"/>
            <a:ext cx="11157110" cy="3284145"/>
            <a:chOff x="431371" y="3293918"/>
            <a:chExt cx="11157110" cy="2639776"/>
          </a:xfrm>
        </p:grpSpPr>
        <p:pic>
          <p:nvPicPr>
            <p:cNvPr id="228" name="Google Shape;228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1371" y="3429000"/>
              <a:ext cx="5325106" cy="25046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31804" y="3429000"/>
              <a:ext cx="5356677" cy="2504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27"/>
            <p:cNvSpPr/>
            <p:nvPr/>
          </p:nvSpPr>
          <p:spPr>
            <a:xfrm>
              <a:off x="1948612" y="3293918"/>
              <a:ext cx="2697019" cy="27016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Prediction for TestX0</a:t>
              </a:r>
              <a:endParaRPr/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7702917" y="3293918"/>
              <a:ext cx="2697019" cy="27016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Prediction for TestX1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type="title"/>
          </p:nvPr>
        </p:nvSpPr>
        <p:spPr>
          <a:xfrm>
            <a:off x="478367" y="488950"/>
            <a:ext cx="95780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37" name="Google Shape;237;p28"/>
          <p:cNvSpPr txBox="1"/>
          <p:nvPr>
            <p:ph idx="1" type="body"/>
          </p:nvPr>
        </p:nvSpPr>
        <p:spPr>
          <a:xfrm>
            <a:off x="336250" y="1450875"/>
            <a:ext cx="11538300" cy="49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/>
              <a:t>Model Performance &amp; Limitations</a:t>
            </a:r>
            <a:endParaRPr b="1" sz="1800"/>
          </a:p>
          <a:p>
            <a:pPr indent="0" lvl="0" marL="0" rtl="0" algn="just">
              <a:spcBef>
                <a:spcPts val="230"/>
              </a:spcBef>
              <a:spcAft>
                <a:spcPts val="0"/>
              </a:spcAft>
              <a:buNone/>
            </a:pPr>
            <a:r>
              <a:rPr lang="en-US" sz="1800"/>
              <a:t>The hybrid model yielded a Mean Absolute Error</a:t>
            </a:r>
            <a:r>
              <a:rPr b="1" lang="en-US" sz="1800"/>
              <a:t> (MAE) of 3.66</a:t>
            </a:r>
            <a:r>
              <a:rPr lang="en-US" sz="1800"/>
              <a:t> on regular days, with a final </a:t>
            </a:r>
            <a:r>
              <a:rPr b="1" lang="en-US" sz="1800"/>
              <a:t>MAE of 5.7 </a:t>
            </a:r>
            <a:r>
              <a:rPr lang="en-US" sz="1800"/>
              <a:t>on the final test data</a:t>
            </a:r>
            <a:r>
              <a:rPr b="1" lang="en-US" sz="1800"/>
              <a:t> </a:t>
            </a:r>
            <a:r>
              <a:rPr lang="en-US" sz="1800"/>
              <a:t>. This indicates decent accuracy but there is  room for refinement. A key limitation is the model's inability to accurately </a:t>
            </a:r>
            <a:r>
              <a:rPr b="1" lang="en-US" sz="1800"/>
              <a:t>capture special days</a:t>
            </a:r>
            <a:r>
              <a:rPr lang="en-US" sz="1800"/>
              <a:t> in the factory's load profile, though performance on regular days was acceptable.</a:t>
            </a:r>
            <a:endParaRPr sz="1800"/>
          </a:p>
          <a:p>
            <a:pPr indent="0" lvl="0" marL="0" rtl="0" algn="l">
              <a:spcBef>
                <a:spcPts val="23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230"/>
              </a:spcBef>
              <a:spcAft>
                <a:spcPts val="0"/>
              </a:spcAft>
              <a:buNone/>
            </a:pPr>
            <a:r>
              <a:rPr b="1" lang="en-US" sz="1800"/>
              <a:t>Future Recommendations</a:t>
            </a:r>
            <a:endParaRPr b="1" sz="1800"/>
          </a:p>
          <a:p>
            <a:pPr indent="0" lvl="0" marL="0" rtl="0" algn="just">
              <a:spcBef>
                <a:spcPts val="230"/>
              </a:spcBef>
              <a:spcAft>
                <a:spcPts val="23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Our team </a:t>
            </a:r>
            <a:r>
              <a:rPr lang="en-US" sz="1800"/>
              <a:t>recommended</a:t>
            </a:r>
            <a:r>
              <a:rPr lang="en-US" sz="1800"/>
              <a:t> that transition to a gradient-boosted framework, specifically </a:t>
            </a:r>
            <a:r>
              <a:rPr b="1" lang="en-US" sz="1800"/>
              <a:t>XGBoost,</a:t>
            </a:r>
            <a:r>
              <a:rPr lang="en-US" sz="1800"/>
              <a:t> to better capture complex non-linearities and high-dimensional interactions. This transition should include improvements in features and hyperparameters. Additionally, more extensive longitudinal datasets are necessary to enhance the prediction of the factory’s </a:t>
            </a:r>
            <a:r>
              <a:rPr lang="en-US" sz="1800"/>
              <a:t>electrical</a:t>
            </a:r>
            <a:r>
              <a:rPr lang="en-US" sz="1800"/>
              <a:t> load .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äsentationsvorlage_BWL9">
  <a:themeElements>
    <a:clrScheme name="v1_TUD_Präsentation_r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